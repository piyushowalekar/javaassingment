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Red Hat Mono Medium"/>
      <p:regular r:id="rId201314"/>
    </p:embeddedFont>
    <p:embeddedFont>
      <p:font typeface="Rethink Sans SemiBold"/>
      <p:regular r:id="rId201315"/>
    </p:embeddedFont>
    <p:embeddedFont>
      <p:font typeface="Rethink Sans Bold"/>
      <p:regular r:id="rId201316"/>
    </p:embeddedFont>
    <p:embeddedFont>
      <p:font typeface="Rethink Sans"/>
      <p:regular r:id="rId201317"/>
    </p:embeddedFont>
    <p:embeddedFont>
      <p:font typeface="Sofia Sans Extra Condensed Bold"/>
      <p:regular r:id="rId201318"/>
    </p:embeddedFont>
    <p:embeddedFont>
      <p:font typeface="Sofia Sans Extra Condensed Extra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43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67060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ADVANCE HARVEST PLANNING &amp; BUYER COORDINATION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14970"/>
            <a:ext cx="7213420" cy="125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2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FARM HARVEST</a:t>
            </a:r>
            <a:endParaRPr lang="en-US" sz="52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2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BOOKING BOARD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189" y="2160191"/>
            <a:ext cx="72134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Buyer enquiries often arrive after harvest is committed elsewhere. Farmers and the FPO have limited visibility of expected quantity and harvest dates.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189" y="2884091"/>
            <a:ext cx="2302810" cy="571500"/>
          </a:xfrm>
          <a:prstGeom prst="rect">
            <a:avLst/>
          </a:prstGeom>
          <a:solidFill>
            <a:srgbClr val="244E40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036491"/>
            <a:ext cx="19980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FARMER 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12394" y="2884091"/>
            <a:ext cx="2302909" cy="571500"/>
          </a:xfrm>
          <a:prstGeom prst="rect">
            <a:avLst/>
          </a:prstGeom>
          <a:solidFill>
            <a:srgbClr val="244E40"/>
          </a:solidFill>
          <a:ln/>
        </p:spPr>
      </p:sp>
      <p:sp>
        <p:nvSpPr>
          <p:cNvPr id="8" name="Text 6"/>
          <p:cNvSpPr/>
          <p:nvPr/>
        </p:nvSpPr>
        <p:spPr>
          <a:xfrm>
            <a:off x="3064791" y="3036491"/>
            <a:ext cx="19981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FPO 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367699" y="2884091"/>
            <a:ext cx="2302810" cy="571500"/>
          </a:xfrm>
          <a:prstGeom prst="rect">
            <a:avLst/>
          </a:prstGeom>
          <a:solidFill>
            <a:srgbClr val="244E40"/>
          </a:solidFill>
          <a:ln/>
        </p:spPr>
      </p:sp>
      <p:sp>
        <p:nvSpPr>
          <p:cNvPr id="10" name="Text 8"/>
          <p:cNvSpPr/>
          <p:nvPr/>
        </p:nvSpPr>
        <p:spPr>
          <a:xfrm>
            <a:off x="5520095" y="3036491"/>
            <a:ext cx="19980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BUYER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189" y="3627041"/>
            <a:ext cx="76706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Information / planning gap between farmers, the FPO and buyers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189" y="4011811"/>
            <a:ext cx="72134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 shared advance-booking information system: farmers declare expected harvest ahead.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189" y="5614690"/>
            <a:ext cx="2252011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9D88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220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189" y="6124575"/>
            <a:ext cx="240440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members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3992" y="5614690"/>
            <a:ext cx="2099714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9D88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18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013992" y="6124575"/>
            <a:ext cx="225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tonnes/week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18498" y="5614690"/>
            <a:ext cx="2252011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9D88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2–4 WEEKS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18498" y="6124575"/>
            <a:ext cx="22520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advance</a:t>
            </a:r>
            <a:endParaRPr lang="en-US" sz="15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2855246" y="5614690"/>
            <a:ext cx="12700" cy="78611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259752" y="5614690"/>
            <a:ext cx="12700" cy="78611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14970"/>
            <a:ext cx="11277318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THREE STAKEHOLDERS, ONE SHARED NEED: EARLY VISIBILITY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57189" y="1460401"/>
            <a:ext cx="3555911" cy="3945235"/>
          </a:xfrm>
          <a:prstGeom prst="rect">
            <a:avLst/>
          </a:prstGeom>
          <a:solidFill>
            <a:srgbClr val="F4F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1689001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3" y="2181126"/>
            <a:ext cx="309872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FARMERS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85783" y="2691011"/>
            <a:ext cx="3098722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Needs: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Simple harvest declaration; better buyer visibility; more predictable selling.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Pain points: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Buyers are found too late; uncertain sales; risk of distress selling.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Benefits: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Planned selling; better visibility of demand; more organised sales.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17892" y="1460401"/>
            <a:ext cx="3555911" cy="3945235"/>
          </a:xfrm>
          <a:prstGeom prst="rect">
            <a:avLst/>
          </a:prstGeom>
          <a:solidFill>
            <a:srgbClr val="F4F3E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486" y="1689001"/>
            <a:ext cx="38099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6486" y="2181126"/>
            <a:ext cx="309872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FPO / COORDINATOR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4546486" y="2691011"/>
            <a:ext cx="3098722" cy="248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Needs: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Reliable harvest forecasts; better collection planning; better aggregation.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Pain points: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Buyer enquiries arrive after commitments; hard to coordinate supply and demand.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Benefits: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Organised aggregation; better procurement planning; improved coordination.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78595" y="1460401"/>
            <a:ext cx="3555911" cy="3945235"/>
          </a:xfrm>
          <a:prstGeom prst="rect">
            <a:avLst/>
          </a:prstGeom>
          <a:solidFill>
            <a:srgbClr val="F4F3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190" y="1689001"/>
            <a:ext cx="380990" cy="38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7190" y="2181126"/>
            <a:ext cx="309872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BUYERS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8407190" y="2691011"/>
            <a:ext cx="3098722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Needs: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Dependable quantity; reliable harvest dates; advance procurement visibility.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Pain points: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Last-minute sourcing; uncertain availability.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Benefits: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Advance procurement planning; better supply visibility; more reliable purchasing.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189" y="5577086"/>
            <a:ext cx="11277318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Give farmers and the FPO early visibility of expected harvest while giving buyers reliable information to plan procurement in advance.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04800"/>
            <a:ext cx="117345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CUSTOMER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562570"/>
            <a:ext cx="11277318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FROM HARVEST DECLARATION TO DELIVERY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57189" y="1308001"/>
            <a:ext cx="2743131" cy="1646734"/>
          </a:xfrm>
          <a:prstGeom prst="rect">
            <a:avLst/>
          </a:prstGeom>
          <a:solidFill>
            <a:srgbClr val="E3EBDC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460401"/>
            <a:ext cx="353210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0232" y="1533426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4392" y="1558826"/>
            <a:ext cx="213592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FARMER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4392" y="1816596"/>
            <a:ext cx="19835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REGISTERS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52716" y="1308001"/>
            <a:ext cx="2666933" cy="1646734"/>
          </a:xfrm>
          <a:prstGeom prst="rect">
            <a:avLst/>
          </a:prstGeom>
          <a:solidFill>
            <a:srgbClr val="E3EBDC"/>
          </a:solidFill>
          <a:ln/>
        </p:spPr>
      </p:sp>
      <p:sp>
        <p:nvSpPr>
          <p:cNvPr id="10" name="Shape 8"/>
          <p:cNvSpPr/>
          <p:nvPr/>
        </p:nvSpPr>
        <p:spPr>
          <a:xfrm>
            <a:off x="3505112" y="1460401"/>
            <a:ext cx="353210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5759" y="1533426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59920" y="1558826"/>
            <a:ext cx="205973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FARMER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59920" y="1816596"/>
            <a:ext cx="190733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DECLARES CROP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59920" y="2219821"/>
            <a:ext cx="190733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Expected quantity and harvest window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046" y="1308001"/>
            <a:ext cx="2666933" cy="1646734"/>
          </a:xfrm>
          <a:prstGeom prst="rect">
            <a:avLst/>
          </a:prstGeom>
          <a:solidFill>
            <a:srgbClr val="F1E9D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4442" y="1460401"/>
            <a:ext cx="353210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5089" y="1533426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79249" y="1558826"/>
            <a:ext cx="205973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FPO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79249" y="1816596"/>
            <a:ext cx="190733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VERIFIES &amp; AGGREGATES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79249" y="2219821"/>
            <a:ext cx="205973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Harvest information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91375" y="1308001"/>
            <a:ext cx="2743131" cy="1646734"/>
          </a:xfrm>
          <a:prstGeom prst="rect">
            <a:avLst/>
          </a:prstGeom>
          <a:solidFill>
            <a:srgbClr val="E1E9E8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3771" y="1460401"/>
            <a:ext cx="353210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4418" y="1533426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98579" y="1558826"/>
            <a:ext cx="213592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BUYER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98579" y="1816596"/>
            <a:ext cx="19835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ENTERS REQUIREMENT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189" y="3107035"/>
            <a:ext cx="2743131" cy="1647031"/>
          </a:xfrm>
          <a:prstGeom prst="rect">
            <a:avLst/>
          </a:prstGeom>
          <a:solidFill>
            <a:srgbClr val="E6E4DE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5" y="3259435"/>
            <a:ext cx="353210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0232" y="3332460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64392" y="3357860"/>
            <a:ext cx="213592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SYSTEM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4392" y="3615630"/>
            <a:ext cx="19835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MATCHES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64392" y="4018855"/>
            <a:ext cx="198353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Crop + quantity + date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352716" y="3107035"/>
            <a:ext cx="2666933" cy="1647031"/>
          </a:xfrm>
          <a:prstGeom prst="rect">
            <a:avLst/>
          </a:prstGeom>
          <a:solidFill>
            <a:srgbClr val="E1E9E8"/>
          </a:solidFill>
          <a:ln/>
        </p:spPr>
      </p:sp>
      <p:sp>
        <p:nvSpPr>
          <p:cNvPr id="33" name="Shape 31"/>
          <p:cNvSpPr/>
          <p:nvPr/>
        </p:nvSpPr>
        <p:spPr>
          <a:xfrm>
            <a:off x="3505112" y="3259435"/>
            <a:ext cx="353210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25759" y="3332460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959920" y="3357860"/>
            <a:ext cx="205973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BUYER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59920" y="3615630"/>
            <a:ext cx="19073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REQUESTS / EXPRESSES INTEREST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172046" y="3107035"/>
            <a:ext cx="2666933" cy="1647031"/>
          </a:xfrm>
          <a:prstGeom prst="rect">
            <a:avLst/>
          </a:prstGeom>
          <a:solidFill>
            <a:srgbClr val="F1E9DD"/>
          </a:solidFill>
          <a:ln/>
        </p:spPr>
      </p:sp>
      <p:sp>
        <p:nvSpPr>
          <p:cNvPr id="38" name="Shape 36"/>
          <p:cNvSpPr/>
          <p:nvPr/>
        </p:nvSpPr>
        <p:spPr>
          <a:xfrm>
            <a:off x="6324442" y="3259435"/>
            <a:ext cx="353210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5089" y="3332460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79249" y="3357860"/>
            <a:ext cx="205973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FPO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79249" y="3615630"/>
            <a:ext cx="190733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CONFIRMS BOOKING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991375" y="3107035"/>
            <a:ext cx="2743131" cy="1647031"/>
          </a:xfrm>
          <a:prstGeom prst="rect">
            <a:avLst/>
          </a:prstGeom>
          <a:solidFill>
            <a:srgbClr val="F1E9DD"/>
          </a:solidFill>
          <a:ln/>
        </p:spPr>
      </p:sp>
      <p:sp>
        <p:nvSpPr>
          <p:cNvPr id="43" name="Shape 41"/>
          <p:cNvSpPr/>
          <p:nvPr/>
        </p:nvSpPr>
        <p:spPr>
          <a:xfrm>
            <a:off x="9143771" y="3259435"/>
            <a:ext cx="353210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64418" y="3332460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598579" y="3357860"/>
            <a:ext cx="213592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FPO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598579" y="3615630"/>
            <a:ext cx="19835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COLLECTS HARVEST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457189" y="4906367"/>
            <a:ext cx="2743131" cy="1646734"/>
          </a:xfrm>
          <a:prstGeom prst="rect">
            <a:avLst/>
          </a:prstGeom>
          <a:solidFill>
            <a:srgbClr val="F1E9D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5" y="5058767"/>
            <a:ext cx="353210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0232" y="5131792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64392" y="5157192"/>
            <a:ext cx="213592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FPO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64392" y="5414963"/>
            <a:ext cx="198353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QUALITY CHECK &amp; CONSOLIDATION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3352716" y="4906367"/>
            <a:ext cx="2666933" cy="1646734"/>
          </a:xfrm>
          <a:prstGeom prst="rect">
            <a:avLst/>
          </a:prstGeom>
          <a:solidFill>
            <a:srgbClr val="E1E9E8"/>
          </a:solidFill>
          <a:ln/>
        </p:spPr>
      </p:sp>
      <p:sp>
        <p:nvSpPr>
          <p:cNvPr id="53" name="Shape 51"/>
          <p:cNvSpPr/>
          <p:nvPr/>
        </p:nvSpPr>
        <p:spPr>
          <a:xfrm>
            <a:off x="3505112" y="5058767"/>
            <a:ext cx="465027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25759" y="5131792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10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4071736" y="5157192"/>
            <a:ext cx="19479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BUYER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071736" y="5414963"/>
            <a:ext cx="17955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RECEIVES DELIVERY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6172046" y="4906367"/>
            <a:ext cx="2666933" cy="1646734"/>
          </a:xfrm>
          <a:prstGeom prst="rect">
            <a:avLst/>
          </a:prstGeom>
          <a:solidFill>
            <a:srgbClr val="E6E4DE"/>
          </a:solidFill>
          <a:ln/>
        </p:spPr>
      </p:sp>
      <p:sp>
        <p:nvSpPr>
          <p:cNvPr id="58" name="Shape 56"/>
          <p:cNvSpPr/>
          <p:nvPr/>
        </p:nvSpPr>
        <p:spPr>
          <a:xfrm>
            <a:off x="6324442" y="5058767"/>
            <a:ext cx="465027" cy="336550"/>
          </a:xfrm>
          <a:prstGeom prst="roundRect">
            <a:avLst>
              <a:gd name="adj" fmla="val 16981"/>
            </a:avLst>
          </a:prstGeom>
          <a:noFill/>
          <a:ln w="25399">
            <a:solidFill>
              <a:srgbClr val="4C4C4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5089" y="5131792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11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6891066" y="5157192"/>
            <a:ext cx="19479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SYSTEM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891066" y="5414963"/>
            <a:ext cx="17955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COMPLETES BOOKING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9143771" y="5058767"/>
            <a:ext cx="24383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KEY DATA FIELDS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9143771" y="5461992"/>
            <a:ext cx="243833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Expected Quantity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Harvest Date / Window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Buyer Requirement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55600"/>
            <a:ext cx="1183610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55591" y="613370"/>
            <a:ext cx="11480513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SUPPLY CHAIN &amp; OPERATING FLOW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55591" y="1358801"/>
            <a:ext cx="271773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FARMERS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55591" y="1868686"/>
            <a:ext cx="271773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Declare crop, quantity and harvest window.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78115" y="1358801"/>
            <a:ext cx="256533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HARVEST FORECAST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48244" y="1358801"/>
            <a:ext cx="2565336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FPO COLLECTION / COORDINATION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48244" y="2242046"/>
            <a:ext cx="256533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Verify forecasts; schedule collection.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18372" y="1358801"/>
            <a:ext cx="2717732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SORTING &amp; QUALITY CHECK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18372" y="2242046"/>
            <a:ext cx="271773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Apply basic quality standards.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591" y="3507383"/>
            <a:ext cx="271773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AGGREGATION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5591" y="4017268"/>
            <a:ext cx="271773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Consolidate lots by crop.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78115" y="3507383"/>
            <a:ext cx="256533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BUYER MATCHING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78115" y="4017268"/>
            <a:ext cx="256533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Match crop, quantity and date with buyer demand.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48244" y="3507383"/>
            <a:ext cx="256533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LOGISTICS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48244" y="4017268"/>
            <a:ext cx="256533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Arrange planned transport and delivery.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18372" y="3507383"/>
            <a:ext cx="271773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BUYER / FINAL DELIVERY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18372" y="4017268"/>
            <a:ext cx="271773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Receive confirmed order.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5591" y="5568752"/>
            <a:ext cx="11480414" cy="31651"/>
          </a:xfrm>
          <a:prstGeom prst="roundRect">
            <a:avLst>
              <a:gd name="adj" fmla="val 49998"/>
            </a:avLst>
          </a:prstGeom>
          <a:solidFill>
            <a:srgbClr val="EDE7DD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5591" y="5817989"/>
            <a:ext cx="1183610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INFORMATION 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5591" y="6171009"/>
            <a:ext cx="11836104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Farmer Forecast → FPO Dashboard → Buyer Requirement → Match → Confirmation → Fulfilment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152400"/>
            <a:ext cx="12039299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5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VIABILITY &amp;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52396" y="402828"/>
            <a:ext cx="11886903" cy="54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5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BUSINESS MODEL, PERFORMANCE METRICS &amp; SWOT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52396" y="1127820"/>
            <a:ext cx="2819230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750" b="1" spc="27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BUSINESS MODEL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52396" y="1623516"/>
            <a:ext cx="2819230" cy="417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Proposed options, not existing financial figures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2396" y="2204541"/>
            <a:ext cx="2819230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950" b="1" spc="20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POTENTIAL REVENUE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2396" y="2595959"/>
            <a:ext cx="2819230" cy="169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Small booking / transaction fee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Buyer subscription or premium access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Optional logistics coordination fee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2396" y="4454128"/>
            <a:ext cx="2819230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950" b="1" spc="20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MAJOR COSTS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2396" y="4845546"/>
            <a:ext cx="2819230" cy="200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Platform development and maintenance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FPO coordination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Communication and farmer training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Logistics and quality coordination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76419" y="1127820"/>
            <a:ext cx="2819329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750" b="1" spc="27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PERFORMANCE</a:t>
            </a:r>
            <a:endParaRPr lang="en-US" sz="2750" dirty="0"/>
          </a:p>
        </p:txBody>
      </p:sp>
      <p:sp>
        <p:nvSpPr>
          <p:cNvPr id="11" name="Text 9"/>
          <p:cNvSpPr/>
          <p:nvPr/>
        </p:nvSpPr>
        <p:spPr>
          <a:xfrm>
            <a:off x="3276419" y="1623516"/>
            <a:ext cx="2819329" cy="534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18 tonnes/week = 18,000 kg/week</a:t>
            </a:r>
            <a:endParaRPr lang="en-US" sz="14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419" y="2264172"/>
            <a:ext cx="2819329" cy="304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76419" y="2732385"/>
            <a:ext cx="2819329" cy="548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700" spc="-23" kern="100" dirty="0">
                <a:solidFill>
                  <a:srgbClr val="E9D88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81.8 KG</a:t>
            </a:r>
            <a:endParaRPr lang="en-US" sz="4700" dirty="0"/>
          </a:p>
        </p:txBody>
      </p:sp>
      <p:sp>
        <p:nvSpPr>
          <p:cNvPr id="14" name="Text 11"/>
          <p:cNvSpPr/>
          <p:nvPr/>
        </p:nvSpPr>
        <p:spPr>
          <a:xfrm>
            <a:off x="3276419" y="3463032"/>
            <a:ext cx="2819329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per member/week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276419" y="3836491"/>
            <a:ext cx="2819329" cy="417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Average planning assumption, not actual production for every farmer.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276419" y="4417516"/>
            <a:ext cx="2819329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950" b="1" spc="20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KPIS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3276419" y="4808934"/>
            <a:ext cx="2819329" cy="2052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% of harvest declared 2–4 weeks ahead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% of declared volume matched with buyers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Booking confirmation rate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Fulfilment rate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Farmer participation rate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00541" y="1127820"/>
            <a:ext cx="5638659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750" b="1" spc="27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SWOT</a:t>
            </a:r>
            <a:endParaRPr lang="en-US" sz="2750" dirty="0"/>
          </a:p>
        </p:txBody>
      </p:sp>
      <p:sp>
        <p:nvSpPr>
          <p:cNvPr id="19" name="Shape 16"/>
          <p:cNvSpPr/>
          <p:nvPr/>
        </p:nvSpPr>
        <p:spPr>
          <a:xfrm>
            <a:off x="6400541" y="1623516"/>
            <a:ext cx="2743131" cy="2542778"/>
          </a:xfrm>
          <a:prstGeom prst="rect">
            <a:avLst/>
          </a:prstGeom>
          <a:solidFill>
            <a:srgbClr val="E3EBDC"/>
          </a:solidFill>
          <a:ln/>
        </p:spPr>
      </p:sp>
      <p:sp>
        <p:nvSpPr>
          <p:cNvPr id="20" name="Text 17"/>
          <p:cNvSpPr/>
          <p:nvPr/>
        </p:nvSpPr>
        <p:spPr>
          <a:xfrm>
            <a:off x="6552937" y="1775916"/>
            <a:ext cx="2438339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95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STRENGTHS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6552937" y="2167334"/>
            <a:ext cx="2438339" cy="1335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Better harvest visibility; stronger farmer-buyer coordination; advance planning; uses existing FPO network.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9296068" y="1623516"/>
            <a:ext cx="2743131" cy="2542778"/>
          </a:xfrm>
          <a:prstGeom prst="rect">
            <a:avLst/>
          </a:prstGeom>
          <a:solidFill>
            <a:srgbClr val="F1E9DD"/>
          </a:solidFill>
          <a:ln/>
        </p:spPr>
      </p:sp>
      <p:sp>
        <p:nvSpPr>
          <p:cNvPr id="23" name="Text 20"/>
          <p:cNvSpPr/>
          <p:nvPr/>
        </p:nvSpPr>
        <p:spPr>
          <a:xfrm>
            <a:off x="9448464" y="1775916"/>
            <a:ext cx="2438339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95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WEAKNESSES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9448464" y="2167334"/>
            <a:ext cx="2438339" cy="10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Initial farmer participation may be low; harvest forecasts may be inaccurate.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400541" y="4318695"/>
            <a:ext cx="2743131" cy="2542778"/>
          </a:xfrm>
          <a:prstGeom prst="rect">
            <a:avLst/>
          </a:prstGeom>
          <a:solidFill>
            <a:srgbClr val="E3EBDC"/>
          </a:solidFill>
          <a:ln/>
        </p:spPr>
      </p:sp>
      <p:sp>
        <p:nvSpPr>
          <p:cNvPr id="26" name="Text 23"/>
          <p:cNvSpPr/>
          <p:nvPr/>
        </p:nvSpPr>
        <p:spPr>
          <a:xfrm>
            <a:off x="6552937" y="4471095"/>
            <a:ext cx="2438339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95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OPPORTUNITIES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6552937" y="4862512"/>
            <a:ext cx="2438339" cy="1603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More organised procurement; stronger buyer relationships; digital agriculture adoption; expansion to more crops and FPOs.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9296068" y="4318695"/>
            <a:ext cx="2743131" cy="2542778"/>
          </a:xfrm>
          <a:prstGeom prst="rect">
            <a:avLst/>
          </a:prstGeom>
          <a:solidFill>
            <a:srgbClr val="F1E9DD"/>
          </a:solidFill>
          <a:ln/>
        </p:spPr>
      </p:sp>
      <p:sp>
        <p:nvSpPr>
          <p:cNvPr id="29" name="Text 26"/>
          <p:cNvSpPr/>
          <p:nvPr/>
        </p:nvSpPr>
        <p:spPr>
          <a:xfrm>
            <a:off x="9448464" y="4471095"/>
            <a:ext cx="2438339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95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THREATS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9448464" y="4862512"/>
            <a:ext cx="2438339" cy="10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Weather and crop failure; price fluctuations; quality variation; logistics disruption.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81000"/>
            <a:ext cx="11734506" cy="156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spc="57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PILOT &amp; ADOPTION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189" y="593328"/>
            <a:ext cx="11277318" cy="47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95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RISK MANAGEMENT, GO-TO-MARKET &amp; 90-DAY PILOT</a:t>
            </a:r>
            <a:endParaRPr lang="en-US" sz="3950" dirty="0"/>
          </a:p>
        </p:txBody>
      </p:sp>
      <p:sp>
        <p:nvSpPr>
          <p:cNvPr id="4" name="Text 2"/>
          <p:cNvSpPr/>
          <p:nvPr/>
        </p:nvSpPr>
        <p:spPr>
          <a:xfrm>
            <a:off x="457189" y="1210965"/>
            <a:ext cx="5120552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400" b="1" spc="24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RISKS → MITIGATION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632645"/>
          <a:ext cx="5120552" cy="914400"/>
        </p:xfrm>
        <a:graphic>
          <a:graphicData uri="http://schemas.openxmlformats.org/drawingml/2006/table">
            <a:tbl>
              <a:tblPr/>
              <a:tblGrid>
                <a:gridCol w="2048221"/>
                <a:gridCol w="3072331"/>
              </a:tblGrid>
              <a:tr h="3216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66" kern="1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RISK</a:t>
                      </a:r>
                      <a:endParaRPr lang="en-US" sz="11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66" kern="1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MITIGATION</a:t>
                      </a:r>
                      <a:endParaRPr lang="en-US" sz="11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0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Inaccurate forecasts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Periodic forecast updates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Low participation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Training, WhatsApp reminders; simple booking process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0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Buyer cancellations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Confirmation rules; backup buyers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Weather / crop failure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Flexible quantity updates; alternate suppliers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0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Quality inconsistency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Basic standards; FPO inspection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Delivery delays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7DD"/>
                          </a:solidFill>
                          <a:latin typeface="Rethink Sans" pitchFamily="34" charset="0"/>
                          <a:ea typeface="Rethink Sans" pitchFamily="34" charset="-122"/>
                          <a:cs typeface="Rethink Sans" pitchFamily="34" charset="-120"/>
                        </a:rPr>
                        <a:t>Planned logistics and collection schedules</a:t>
                      </a:r>
                      <a:endParaRPr lang="en-US" sz="1300" dirty="0">
                        <a:latin typeface="Rethink Sans" charset="0"/>
                        <a:ea typeface="Rethink Sans" charset="0"/>
                        <a:cs typeface="Rethink Sans" charset="0"/>
                      </a:endParaRPr>
                    </a:p>
                  </a:txBody>
                  <a:tcPr marL="76198" marR="76198" marT="63498" marB="63498" anchor="ctr">
                    <a:lnL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6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189" y="4860627"/>
            <a:ext cx="5120552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b="1" spc="17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PROPOSED PILOT TARGETS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189" y="5190629"/>
            <a:ext cx="5120552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Not case-study statistics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189" y="5456039"/>
            <a:ext cx="2484078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400" b="1" spc="24" kern="100" dirty="0">
                <a:solidFill>
                  <a:srgbClr val="E9D88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≥60%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189" y="5877719"/>
            <a:ext cx="2484078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Pilot farmers submit harvest forecasts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93662" y="5456039"/>
            <a:ext cx="2484078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400" b="1" spc="24" kern="100" dirty="0">
                <a:solidFill>
                  <a:srgbClr val="E9D88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≥70%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093662" y="5877719"/>
            <a:ext cx="2484078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Declared volume matched with buyer demand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189" y="6401098"/>
            <a:ext cx="5120552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Confirm bookings before harvest; reduce last-minute procurement issues; improve farmer participation.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82433" y="1210965"/>
            <a:ext cx="5852073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400" b="1" spc="24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GO-TO-MARKET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882433" y="1632645"/>
            <a:ext cx="1348647" cy="1636514"/>
          </a:xfrm>
          <a:prstGeom prst="rect">
            <a:avLst/>
          </a:prstGeom>
          <a:solidFill>
            <a:srgbClr val="244E40"/>
          </a:solidFill>
          <a:ln/>
        </p:spPr>
      </p:sp>
      <p:sp>
        <p:nvSpPr>
          <p:cNvPr id="15" name="Text 12"/>
          <p:cNvSpPr/>
          <p:nvPr/>
        </p:nvSpPr>
        <p:spPr>
          <a:xfrm>
            <a:off x="5984031" y="1734245"/>
            <a:ext cx="1145452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b="1" spc="17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PILOT →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84031" y="2064246"/>
            <a:ext cx="1145452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Select farmers and buyers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83476" y="1632645"/>
            <a:ext cx="1348746" cy="1636514"/>
          </a:xfrm>
          <a:prstGeom prst="rect">
            <a:avLst/>
          </a:prstGeom>
          <a:solidFill>
            <a:srgbClr val="244E40"/>
          </a:solidFill>
          <a:ln/>
        </p:spPr>
      </p:sp>
      <p:sp>
        <p:nvSpPr>
          <p:cNvPr id="18" name="Text 15"/>
          <p:cNvSpPr/>
          <p:nvPr/>
        </p:nvSpPr>
        <p:spPr>
          <a:xfrm>
            <a:off x="7485074" y="1734245"/>
            <a:ext cx="1145551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b="1" spc="17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VALIDATE →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485074" y="2064246"/>
            <a:ext cx="1145551" cy="110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Track participation, accuracy, matching, fulfilment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884618" y="1632645"/>
            <a:ext cx="1348746" cy="1636514"/>
          </a:xfrm>
          <a:prstGeom prst="rect">
            <a:avLst/>
          </a:prstGeom>
          <a:solidFill>
            <a:srgbClr val="244E40"/>
          </a:solidFill>
          <a:ln/>
        </p:spPr>
      </p:sp>
      <p:sp>
        <p:nvSpPr>
          <p:cNvPr id="21" name="Text 18"/>
          <p:cNvSpPr/>
          <p:nvPr/>
        </p:nvSpPr>
        <p:spPr>
          <a:xfrm>
            <a:off x="8986216" y="1734245"/>
            <a:ext cx="1145551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b="1" spc="17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IMPROVE →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986216" y="2064246"/>
            <a:ext cx="1145551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Use feedback and performance data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385760" y="1632645"/>
            <a:ext cx="1348746" cy="1636514"/>
          </a:xfrm>
          <a:prstGeom prst="rect">
            <a:avLst/>
          </a:prstGeom>
          <a:solidFill>
            <a:srgbClr val="244E40"/>
          </a:solidFill>
          <a:ln/>
        </p:spPr>
      </p:sp>
      <p:sp>
        <p:nvSpPr>
          <p:cNvPr id="24" name="Text 21"/>
          <p:cNvSpPr/>
          <p:nvPr/>
        </p:nvSpPr>
        <p:spPr>
          <a:xfrm>
            <a:off x="10487358" y="1734245"/>
            <a:ext cx="1145551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b="1" spc="17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SCALE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0487358" y="2064246"/>
            <a:ext cx="1145551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Wider FPO network after validation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882433" y="3351213"/>
            <a:ext cx="5852073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Adoption supported by FPO coordinators and WhatsApp communication.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882433" y="3743623"/>
            <a:ext cx="585207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b="1" spc="17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DAYS 1–30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882433" y="4073624"/>
            <a:ext cx="5852073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Select pilot farmers; onboard buyers; set up booking process; train FPO coordinators.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882433" y="4818856"/>
            <a:ext cx="585207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b="1" spc="17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DAYS 31–60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882433" y="5148858"/>
            <a:ext cx="5852073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Start advance harvest declarations; match supply with buyer demand; track booking and fulfilment data.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882433" y="5894090"/>
            <a:ext cx="585207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b="1" spc="17" kern="10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DAYS 61–90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5882433" y="6224091"/>
            <a:ext cx="5852073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Evaluate results; improve matching; expand participation; prepare scale-up plan.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882433" y="4685506"/>
            <a:ext cx="5852073" cy="1270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882433" y="5760740"/>
            <a:ext cx="5852073" cy="1270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2026-10-04T05:14:35Z</dcterms:created>
  <dcterms:modified xsi:type="dcterms:W3CDTF">2026-10-04T05:14:35Z</dcterms:modified>
</cp:coreProperties>
</file>